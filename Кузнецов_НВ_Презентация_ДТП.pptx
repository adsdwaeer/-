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53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417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3246120"/>
            <a:ext cx="1463040" cy="640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C9D3E6"/>
                </a:solidFill>
                <a:latin typeface="Arial"/>
              </a:rPr>
              <a:t>Алтайский государственный университет</a:t>
            </a:r>
          </a:p>
          <a:p>
            <a:pPr algn="l"/>
            <a:r>
              <a:rPr sz="1600" b="0" i="0">
                <a:solidFill>
                  <a:srgbClr val="C9D3E6"/>
                </a:solidFill>
                <a:latin typeface="Arial"/>
              </a:rPr>
              <a:t>Институт математики и информационных технологий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737360"/>
          </a:xfrm>
          <a:prstGeom prst="rect">
            <a:avLst/>
          </a:prstGeom>
          <a:noFill/>
        </p:spPr>
        <p:txBody>
          <a:bodyPr wrap="square" lIns="45720" tIns="27432" rIns="45720" bIns="27432" anchor="b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Анализ данных дорожно-транспортных происшествий в среде Excel: изучение ВКР и повтор расчётов на открытых данных STATS19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9728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9D3E6"/>
                </a:solidFill>
                <a:latin typeface="Arial"/>
              </a:rPr>
              <a:t>Общее практическое задание по курсу</a:t>
            </a:r>
          </a:p>
          <a:p>
            <a:pPr algn="l"/>
            <a:r>
              <a:rPr sz="1800" b="0" i="0">
                <a:solidFill>
                  <a:srgbClr val="C9D3E6"/>
                </a:solidFill>
                <a:latin typeface="Arial"/>
              </a:rPr>
              <a:t>«Цифровые компетенции в научной деятельности»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Докладчик: Кузнецов Н.В., гр. 4.506М-3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C9D3E6"/>
                </a:solidFill>
                <a:latin typeface="Arial"/>
              </a:rPr>
              <a:t>Барнаул,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Исследуемая работа и что сделано в задании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0" cy="475488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81328"/>
            <a:ext cx="51663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Arial"/>
              </a:rPr>
              <a:t>Магистерская диссертация (АлтГУ, 2022)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5120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Тема: «Анализ данных дорожно-транспортных происшествий в среде Excel»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1">
                <a:solidFill>
                  <a:srgbClr val="1A1A1A"/>
                </a:solidFill>
                <a:latin typeface="Arial"/>
              </a:rPr>
              <a:t>Объект:</a:t>
            </a:r>
            <a:r>
              <a:rPr sz="2000" b="0">
                <a:solidFill>
                  <a:srgbClr val="1A1A1A"/>
                </a:solidFill>
                <a:latin typeface="Arial"/>
              </a:rPr>
              <a:t> база данных ДТП со смертельным исходом на территории Англии, 2009–2017 гг.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1">
                <a:solidFill>
                  <a:srgbClr val="1A1A1A"/>
                </a:solidFill>
                <a:latin typeface="Arial"/>
              </a:rPr>
              <a:t>Предмет:</a:t>
            </a:r>
            <a:r>
              <a:rPr sz="2000" b="0">
                <a:solidFill>
                  <a:srgbClr val="1A1A1A"/>
                </a:solidFill>
                <a:latin typeface="Arial"/>
              </a:rPr>
              <a:t> построение эмпирических зависимостей уровня ДТП средствами Excel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1">
                <a:solidFill>
                  <a:srgbClr val="1A1A1A"/>
                </a:solidFill>
                <a:latin typeface="Arial"/>
              </a:rPr>
              <a:t>Результат:</a:t>
            </a:r>
            <a:r>
              <a:rPr sz="2000" b="0">
                <a:solidFill>
                  <a:srgbClr val="1A1A1A"/>
                </a:solidFill>
                <a:latin typeface="Arial"/>
              </a:rPr>
              <a:t> оценочная таблица уровней ДТП по кварталам 2017 г.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86400" cy="475488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73152" cy="4754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481328"/>
            <a:ext cx="51663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EB6834"/>
                </a:solidFill>
                <a:latin typeface="Arial"/>
              </a:rPr>
              <a:t>Повтор расчётов (данная работа)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5120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Найден первоисточник — открытые данные </a:t>
            </a:r>
            <a:r>
              <a:rPr sz="2000" b="1">
                <a:solidFill>
                  <a:srgbClr val="1A1A1A"/>
                </a:solidFill>
                <a:latin typeface="Arial"/>
              </a:rPr>
              <a:t>STATS19</a:t>
            </a:r>
            <a:r>
              <a:rPr sz="2000" b="0">
                <a:solidFill>
                  <a:srgbClr val="1A1A1A"/>
                </a:solidFill>
                <a:latin typeface="Arial"/>
              </a:rPr>
              <a:t> (Министерство транспорта Великобритании)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Восстановлены территория и фильтр выборки автора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Повторено кодирование факторов и МНК в Excel (ЛИНЕЙН, матричные формулы)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Построена оценочная таблица 2017 г. и проведено сравнение с ВКР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Актуальность 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EB6834"/>
                </a:solidFill>
                <a:latin typeface="Arial"/>
              </a:rPr>
              <a:t>■  </a:t>
            </a:r>
            <a:r>
              <a:rPr sz="1900" b="0">
                <a:solidFill>
                  <a:srgbClr val="1A1A1A"/>
                </a:solidFill>
                <a:latin typeface="Arial"/>
              </a:rPr>
              <a:t>ДТП — серьёзная социально-экономическая проблема: по данным ВКР, потери в РФ составляют </a:t>
            </a:r>
            <a:r>
              <a:rPr sz="1900" b="1">
                <a:solidFill>
                  <a:srgbClr val="1A1A1A"/>
                </a:solidFill>
                <a:latin typeface="Arial"/>
              </a:rPr>
              <a:t>2–3 % ВВП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B6834"/>
                </a:solidFill>
                <a:latin typeface="Arial"/>
              </a:rPr>
              <a:t>■  </a:t>
            </a:r>
            <a:r>
              <a:rPr sz="1900" b="0">
                <a:solidFill>
                  <a:srgbClr val="1A1A1A"/>
                </a:solidFill>
                <a:latin typeface="Arial"/>
              </a:rPr>
              <a:t>В России в ДТП ежегодно гибнет </a:t>
            </a:r>
            <a:r>
              <a:rPr sz="1900" b="1">
                <a:solidFill>
                  <a:srgbClr val="1A1A1A"/>
                </a:solidFill>
                <a:latin typeface="Arial"/>
              </a:rPr>
              <a:t>более 18 тыс.</a:t>
            </a:r>
            <a:r>
              <a:rPr sz="1900" b="0">
                <a:solidFill>
                  <a:srgbClr val="1A1A1A"/>
                </a:solidFill>
                <a:latin typeface="Arial"/>
              </a:rPr>
              <a:t> и травмируется </a:t>
            </a:r>
            <a:r>
              <a:rPr sz="1900" b="1">
                <a:solidFill>
                  <a:srgbClr val="1A1A1A"/>
                </a:solidFill>
                <a:latin typeface="Arial"/>
              </a:rPr>
              <a:t>более 200 тыс.</a:t>
            </a:r>
            <a:r>
              <a:rPr sz="1900" b="0">
                <a:solidFill>
                  <a:srgbClr val="1A1A1A"/>
                </a:solidFill>
                <a:latin typeface="Arial"/>
              </a:rPr>
              <a:t> человек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B6834"/>
                </a:solidFill>
                <a:latin typeface="Arial"/>
              </a:rPr>
              <a:t>■  </a:t>
            </a:r>
            <a:r>
              <a:rPr sz="1900" b="0">
                <a:solidFill>
                  <a:srgbClr val="1A1A1A"/>
                </a:solidFill>
                <a:latin typeface="Arial"/>
              </a:rPr>
              <a:t>Внешние факторы (дорога, среда: освещённость, покрытие, день недели) можно учитывать и управлять ими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B6834"/>
                </a:solidFill>
                <a:latin typeface="Arial"/>
              </a:rPr>
              <a:t>■  </a:t>
            </a:r>
            <a:r>
              <a:rPr sz="1900" b="0">
                <a:solidFill>
                  <a:srgbClr val="1A1A1A"/>
                </a:solidFill>
                <a:latin typeface="Arial"/>
              </a:rPr>
              <a:t>Открытые базы данных о ДТП и Excel делают факторный анализ доступным без программирования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EB6834"/>
                </a:solidFill>
                <a:latin typeface="Arial"/>
              </a:rPr>
              <a:t>■  </a:t>
            </a:r>
            <a:r>
              <a:rPr sz="1900" b="0">
                <a:solidFill>
                  <a:srgbClr val="1A1A1A"/>
                </a:solidFill>
                <a:latin typeface="Arial"/>
              </a:rPr>
              <a:t>Воспроизводимость расчётов — важная цифровая компетенция исследователя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463040"/>
            <a:ext cx="4023360" cy="36576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80960" y="1463040"/>
            <a:ext cx="73152" cy="36576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1572768"/>
            <a:ext cx="37033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Arial"/>
              </a:rPr>
              <a:t>Система ВАДС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057400"/>
            <a:ext cx="36576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1">
                <a:solidFill>
                  <a:srgbClr val="1A1A1A"/>
                </a:solidFill>
                <a:latin typeface="Arial"/>
              </a:rPr>
              <a:t>В</a:t>
            </a:r>
            <a:r>
              <a:rPr sz="1800" b="0">
                <a:solidFill>
                  <a:srgbClr val="1A1A1A"/>
                </a:solidFill>
                <a:latin typeface="Arial"/>
              </a:rPr>
              <a:t>одитель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1">
                <a:solidFill>
                  <a:srgbClr val="1A1A1A"/>
                </a:solidFill>
                <a:latin typeface="Arial"/>
              </a:rPr>
              <a:t>А</a:t>
            </a:r>
            <a:r>
              <a:rPr sz="1800" b="0">
                <a:solidFill>
                  <a:srgbClr val="1A1A1A"/>
                </a:solidFill>
                <a:latin typeface="Arial"/>
              </a:rPr>
              <a:t>втомобиль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1">
                <a:solidFill>
                  <a:srgbClr val="1A1A1A"/>
                </a:solidFill>
                <a:latin typeface="Arial"/>
              </a:rPr>
              <a:t>Д</a:t>
            </a:r>
            <a:r>
              <a:rPr sz="1800" b="0">
                <a:solidFill>
                  <a:srgbClr val="1A1A1A"/>
                </a:solidFill>
                <a:latin typeface="Arial"/>
              </a:rPr>
              <a:t>орога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1">
                <a:solidFill>
                  <a:srgbClr val="1A1A1A"/>
                </a:solidFill>
                <a:latin typeface="Arial"/>
              </a:rPr>
              <a:t>С</a:t>
            </a:r>
            <a:r>
              <a:rPr sz="1800" b="0">
                <a:solidFill>
                  <a:srgbClr val="1A1A1A"/>
                </a:solidFill>
                <a:latin typeface="Arial"/>
              </a:rPr>
              <a:t>реда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  <a:latin typeface="Arial"/>
              </a:rPr>
              <a:t>–  </a:t>
            </a:r>
            <a:r>
              <a:rPr sz="1600" b="0">
                <a:solidFill>
                  <a:srgbClr val="595959"/>
                </a:solidFill>
                <a:latin typeface="Arial"/>
              </a:rPr>
              <a:t>Д и С — внешние факторы, их и описывает модель ВКР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Цель и задачи исследования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Arial"/>
              </a:rPr>
              <a:t>Цель ВКР — разработать методику и программное обеспечение анализа баз данных и построения зависимостей с использованием Excel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5577840" cy="41148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73152" cy="4114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52578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Arial"/>
              </a:rPr>
              <a:t>Задачи ВКР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52120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0">
                <a:solidFill>
                  <a:srgbClr val="1A1A1A"/>
                </a:solidFill>
                <a:latin typeface="Arial"/>
              </a:rPr>
              <a:t>Изучить методы ковариационного и дисперсионного анализа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0">
                <a:solidFill>
                  <a:srgbClr val="1A1A1A"/>
                </a:solidFill>
                <a:latin typeface="Arial"/>
              </a:rPr>
              <a:t>Исследовать факторы и закономерности ДТП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0">
                <a:solidFill>
                  <a:srgbClr val="1A1A1A"/>
                </a:solidFill>
                <a:latin typeface="Arial"/>
              </a:rPr>
              <a:t>Структурировать исходную базу, сформировать выборки ДТП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0">
                <a:solidFill>
                  <a:srgbClr val="1A1A1A"/>
                </a:solidFill>
                <a:latin typeface="Arial"/>
              </a:rPr>
              <a:t>Разработать программу анализа в Excel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0">
                <a:solidFill>
                  <a:srgbClr val="1A1A1A"/>
                </a:solidFill>
                <a:latin typeface="Arial"/>
              </a:rPr>
              <a:t>Получить оценочную таблицу уровней ДТП (2017 г.)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103120"/>
            <a:ext cx="5486400" cy="41148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2103120"/>
            <a:ext cx="73152" cy="4114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212848"/>
            <a:ext cx="51663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EB6834"/>
                </a:solidFill>
                <a:latin typeface="Arial"/>
              </a:rPr>
              <a:t>Задачи практического задания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51206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0">
                <a:solidFill>
                  <a:srgbClr val="1A1A1A"/>
                </a:solidFill>
                <a:latin typeface="Arial"/>
              </a:rPr>
              <a:t>Найти исходные данные (STATS19)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0">
                <a:solidFill>
                  <a:srgbClr val="1A1A1A"/>
                </a:solidFill>
                <a:latin typeface="Arial"/>
              </a:rPr>
              <a:t>Восстановить фильтр и кодирование автора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0">
                <a:solidFill>
                  <a:srgbClr val="1A1A1A"/>
                </a:solidFill>
                <a:latin typeface="Arial"/>
              </a:rPr>
              <a:t>Повторить МНК-оценки модели (2.3) в Excel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0">
                <a:solidFill>
                  <a:srgbClr val="1A1A1A"/>
                </a:solidFill>
                <a:latin typeface="Arial"/>
              </a:rPr>
              <a:t>Построить оценочную таблицу и графики 2017 г.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0">
                <a:solidFill>
                  <a:srgbClr val="1A1A1A"/>
                </a:solidFill>
                <a:latin typeface="Arial"/>
              </a:rPr>
              <a:t>Сравнить результаты, объяснить расхождения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Методы исследования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6583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1">
                <a:solidFill>
                  <a:srgbClr val="1A1A1A"/>
                </a:solidFill>
                <a:latin typeface="Arial"/>
              </a:rPr>
              <a:t>Регрессионный анализ</a:t>
            </a:r>
            <a:r>
              <a:rPr sz="1800" b="0">
                <a:solidFill>
                  <a:srgbClr val="1A1A1A"/>
                </a:solidFill>
                <a:latin typeface="Arial"/>
              </a:rPr>
              <a:t>, метод наименьших квадратов (МНК)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1">
                <a:solidFill>
                  <a:srgbClr val="1A1A1A"/>
                </a:solidFill>
                <a:latin typeface="Arial"/>
              </a:rPr>
              <a:t>Фиктивные переменные</a:t>
            </a:r>
            <a:r>
              <a:rPr sz="1800" b="0">
                <a:solidFill>
                  <a:srgbClr val="1A1A1A"/>
                </a:solidFill>
                <a:latin typeface="Arial"/>
              </a:rPr>
              <a:t> — сведение дисперсионного и ковариационного анализа к регрессии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1">
                <a:solidFill>
                  <a:srgbClr val="1A1A1A"/>
                </a:solidFill>
                <a:latin typeface="Arial"/>
              </a:rPr>
              <a:t>Логическая схема</a:t>
            </a:r>
            <a:r>
              <a:rPr sz="1800" b="0">
                <a:solidFill>
                  <a:srgbClr val="1A1A1A"/>
                </a:solidFill>
                <a:latin typeface="Arial"/>
              </a:rPr>
              <a:t> построения эмпирических зависимостей (8 этапов: от выбора переменных до корректировки модели)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1">
                <a:solidFill>
                  <a:srgbClr val="1A1A1A"/>
                </a:solidFill>
                <a:latin typeface="Arial"/>
              </a:rPr>
              <a:t>ВКР:</a:t>
            </a:r>
            <a:r>
              <a:rPr sz="1800" b="0">
                <a:solidFill>
                  <a:srgbClr val="1A1A1A"/>
                </a:solidFill>
                <a:latin typeface="Arial"/>
              </a:rPr>
              <a:t> Excel 2010, «Поиск решения», метод ОПГ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B6834"/>
                </a:solidFill>
                <a:latin typeface="Arial"/>
              </a:rPr>
              <a:t>■  </a:t>
            </a:r>
            <a:r>
              <a:rPr sz="1800" b="1">
                <a:solidFill>
                  <a:srgbClr val="1A1A1A"/>
                </a:solidFill>
                <a:latin typeface="Arial"/>
              </a:rPr>
              <a:t>Повтор:</a:t>
            </a:r>
            <a:r>
              <a:rPr sz="1800" b="0">
                <a:solidFill>
                  <a:srgbClr val="1A1A1A"/>
                </a:solidFill>
                <a:latin typeface="Arial"/>
              </a:rPr>
              <a:t> Python (pandas) — отбор из 9,1 млн записей; Excel — СЧЁТЕСЛИМН, ЛИНЕЙН, МУМНОЖ/МОБР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463040"/>
            <a:ext cx="4389120" cy="448056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1600200"/>
            <a:ext cx="4023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Arial"/>
              </a:rPr>
              <a:t>Критерий МНК и решение</a:t>
            </a:r>
          </a:p>
        </p:txBody>
      </p:sp>
      <p:pic>
        <p:nvPicPr>
          <p:cNvPr id="11" name="Picture 10" descr="f_m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148840"/>
            <a:ext cx="4023360" cy="5045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9520" y="3246120"/>
            <a:ext cx="4023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Arial"/>
              </a:rPr>
              <a:t>Качество и значимость</a:t>
            </a:r>
          </a:p>
        </p:txBody>
      </p:sp>
      <p:pic>
        <p:nvPicPr>
          <p:cNvPr id="13" name="Picture 12" descr="f_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749039"/>
            <a:ext cx="3657600" cy="6537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89520" y="4846320"/>
            <a:ext cx="40233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Arial"/>
              </a:rPr>
              <a:t>Оба способа (ЛИНЕЙН и нормальные уравнения) дают одинаковые оценки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Фиктивные переменные: пример из ВКР (табл. 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Arial"/>
              </a:rPr>
              <a:t>13 индеек: вес y (фунты), возраст x (недели), штат происхождения — 3 уровня, эталон — Висконсин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6</a:t>
            </a:r>
          </a:p>
        </p:txBody>
      </p:sp>
      <p:pic>
        <p:nvPicPr>
          <p:cNvPr id="9" name="Picture 8" descr="f_tur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120640" cy="4754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26517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EB6834"/>
                </a:solidFill>
                <a:latin typeface="Arial"/>
              </a:rPr>
              <a:t>■  </a:t>
            </a:r>
            <a:r>
              <a:rPr sz="1700" b="0">
                <a:solidFill>
                  <a:srgbClr val="1A1A1A"/>
                </a:solidFill>
                <a:latin typeface="Arial"/>
              </a:rPr>
              <a:t>d1 = 1 — Джорджия, d2 = 1 — Виргиния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B6834"/>
                </a:solidFill>
                <a:latin typeface="Arial"/>
              </a:rPr>
              <a:t>■  </a:t>
            </a:r>
            <a:r>
              <a:rPr sz="1700" b="0">
                <a:solidFill>
                  <a:srgbClr val="1A1A1A"/>
                </a:solidFill>
                <a:latin typeface="Arial"/>
              </a:rPr>
              <a:t>Наклон β1 общий, штаты различаются только свободным членом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B6834"/>
                </a:solidFill>
                <a:latin typeface="Arial"/>
              </a:rPr>
              <a:t>■  </a:t>
            </a:r>
            <a:r>
              <a:rPr sz="1700" b="0">
                <a:solidFill>
                  <a:srgbClr val="1A1A1A"/>
                </a:solidFill>
                <a:latin typeface="Arial"/>
              </a:rPr>
              <a:t>В ВКР — нестатистические оценки (метод центра неопределённости)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EB6834"/>
                </a:solidFill>
                <a:latin typeface="Arial"/>
              </a:rPr>
              <a:t>■  </a:t>
            </a:r>
            <a:r>
              <a:rPr sz="1700" b="0">
                <a:solidFill>
                  <a:srgbClr val="1A1A1A"/>
                </a:solidFill>
                <a:latin typeface="Arial"/>
              </a:rPr>
              <a:t>Повтор МНК в Excel: лист «Пример_индейки»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82880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ВКР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МНК (повтор)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β0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3,750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A78D6"/>
                          </a:solidFill>
                          <a:latin typeface="Arial"/>
                        </a:rPr>
                        <a:t>1,431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β1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0,400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A78D6"/>
                          </a:solidFill>
                          <a:latin typeface="Arial"/>
                        </a:rPr>
                        <a:t>0,487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δ1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−2,100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A78D6"/>
                          </a:solidFill>
                          <a:latin typeface="Arial"/>
                        </a:rPr>
                        <a:t>−1,918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δ2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−1,525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A78D6"/>
                          </a:solidFill>
                          <a:latin typeface="Arial"/>
                        </a:rPr>
                        <a:t>−2,192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Σ E²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3,410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A78D6"/>
                          </a:solidFill>
                          <a:latin typeface="Arial"/>
                        </a:rPr>
                        <a:t>0,811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Постановка задачи и модель (2.3)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47120" cy="114300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122" y="1481328"/>
            <a:ext cx="8047451" cy="86868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743200"/>
          <a:ext cx="11247120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Обозначение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Смысл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Y(t)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число ДТП со смертельным исходом в квартале t, t = 1…36 (I кв. 2009 — IV кв. 2017)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A0, A1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свободный член и линейный тренд по номеру квартала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K1…K4, δi(t)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сезонность: δi = 1 для i-го квартала года; K1 = 0 (эталон)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Pr · δPr(t)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δPr — число ДТП в квартале, пришедшихся на пт, сб, вс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Cv · δCv(t)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δCv — число ДТП при дневном свете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CD · δCD(t)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δCD — число ДТП на сухом покрытии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Arial"/>
              </a:rPr>
              <a:t>Коэффициент при δ — «вклад» одного ДТП с данным признаком в уровень ДТП квартала; оценки — МНК по 35 непустым кварталам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Данные и кодирование факторов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Arial"/>
              </a:rPr>
              <a:t>Кодирование повторяет ВКР; коды STATS19 сверены с официальным справочником DfT (data guide 2025)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9164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Переменная ВКР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Поле STATS19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Код 1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Код 0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Pr — «праздник»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day_of_week (1 — вс … 7 — сб)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пт, сб, вс (6, 7, 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пн – чт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Cv — освещённость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light_conditions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1 — дневной свет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4–7 — тьма (с освещением и без)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CD — покрытие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road_surface_conditions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1 — сухое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2 — влажное, 3–5 — снег, лёд, вода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t — квартал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t = (год − 2009)·4 + кв.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Тяжесть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collision_severity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1 — Fatal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в выборку не входят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Территория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urban_or_rural_area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2 — Rural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1 — Urban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Arial"/>
              </a:rPr>
              <a:t>В Excel кодирование выполняется формулами, напр. Pr: =ЕСЛИ(ИЛИ(I5=1;I5=6;I5=7);1;0)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Источник данных: STATS19 вместо Kaggle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Arial"/>
              </a:rPr>
              <a:t>data.gov.uk → dft-road-casualty-statistics-collision-1979-latest-published-year.csv (1,5 ГБ, 9,1 млн записей)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9</a:t>
            </a:r>
          </a:p>
        </p:txBody>
      </p:sp>
      <p:pic>
        <p:nvPicPr>
          <p:cNvPr id="9" name="Picture 8" descr="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0"/>
            <a:ext cx="7680960" cy="444687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0" y="1645920"/>
            <a:ext cx="3566160" cy="43891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73152" cy="4389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755648"/>
            <a:ext cx="32461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Arial"/>
              </a:rPr>
              <a:t>Обработка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240280"/>
            <a:ext cx="32004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EB6834"/>
                </a:solidFill>
                <a:latin typeface="Arial"/>
              </a:rPr>
              <a:t>■  </a:t>
            </a:r>
            <a:r>
              <a:rPr sz="1700" b="0">
                <a:solidFill>
                  <a:srgbClr val="1A1A1A"/>
                </a:solidFill>
                <a:latin typeface="Arial"/>
              </a:rPr>
              <a:t>Python + pandas: только нужные столбцы (usecols), чтение порциями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B6834"/>
                </a:solidFill>
                <a:latin typeface="Arial"/>
              </a:rPr>
              <a:t>■  </a:t>
            </a:r>
            <a:r>
              <a:rPr sz="1700" b="0">
                <a:solidFill>
                  <a:srgbClr val="1A1A1A"/>
                </a:solidFill>
                <a:latin typeface="Arial"/>
              </a:rPr>
              <a:t>В Excel перенесены лишь 172 отобранных ДТП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EB6834"/>
                </a:solidFill>
                <a:latin typeface="Arial"/>
              </a:rPr>
              <a:t>■  </a:t>
            </a:r>
            <a:r>
              <a:rPr sz="1700" b="0">
                <a:solidFill>
                  <a:srgbClr val="1A1A1A"/>
                </a:solidFill>
                <a:latin typeface="Arial"/>
              </a:rPr>
              <a:t>Квартальные суммы считаются формулами Excel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Как восстановлена выборка автора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EB6834"/>
                </a:solidFill>
                <a:latin typeface="Arial"/>
              </a:rPr>
              <a:t>■  </a:t>
            </a:r>
            <a:r>
              <a:rPr sz="1700" b="0">
                <a:solidFill>
                  <a:srgbClr val="1A1A1A"/>
                </a:solidFill>
                <a:latin typeface="Arial"/>
              </a:rPr>
              <a:t>Территория в тексте ВКР не названа («сельская территория Англии»)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B6834"/>
                </a:solidFill>
                <a:latin typeface="Arial"/>
              </a:rPr>
              <a:t>■  </a:t>
            </a:r>
            <a:r>
              <a:rPr sz="1700" b="0">
                <a:solidFill>
                  <a:srgbClr val="1A1A1A"/>
                </a:solidFill>
                <a:latin typeface="Arial"/>
              </a:rPr>
              <a:t>На рис. 2.4 ВКР видны номера ДТП: 200950AH2E013, 200950AH2E017, 200950AH2T013, 200950AY2D003, 200950AY2E005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B6834"/>
                </a:solidFill>
                <a:latin typeface="Arial"/>
              </a:rPr>
              <a:t>■  </a:t>
            </a:r>
            <a:r>
              <a:rPr sz="1700" b="0">
                <a:solidFill>
                  <a:srgbClr val="1A1A1A"/>
                </a:solidFill>
                <a:latin typeface="Arial"/>
              </a:rPr>
              <a:t>В STATS19 все пять — </a:t>
            </a:r>
            <a:r>
              <a:rPr sz="1700" b="1">
                <a:solidFill>
                  <a:srgbClr val="1A1A1A"/>
                </a:solidFill>
                <a:latin typeface="Arial"/>
              </a:rPr>
              <a:t>Корнуолл</a:t>
            </a:r>
            <a:r>
              <a:rPr sz="1700" b="0">
                <a:solidFill>
                  <a:srgbClr val="1A1A1A"/>
                </a:solidFill>
                <a:latin typeface="Arial"/>
              </a:rPr>
              <a:t> (E06000052), сельская местность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B6834"/>
                </a:solidFill>
                <a:latin typeface="Arial"/>
              </a:rPr>
              <a:t>■  </a:t>
            </a:r>
            <a:r>
              <a:rPr sz="1700" b="0">
                <a:solidFill>
                  <a:srgbClr val="1A1A1A"/>
                </a:solidFill>
                <a:latin typeface="Arial"/>
              </a:rPr>
              <a:t>Фильтр «Корнуолл + Rural + Fatal, 2009–2017» → </a:t>
            </a:r>
            <a:r>
              <a:rPr sz="1700" b="1">
                <a:solidFill>
                  <a:srgbClr val="1A1A1A"/>
                </a:solidFill>
                <a:latin typeface="Arial"/>
              </a:rPr>
              <a:t>172 ДТП, 426 пострадавших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EB6834"/>
                </a:solidFill>
                <a:latin typeface="Arial"/>
              </a:rPr>
              <a:t>■  </a:t>
            </a:r>
            <a:r>
              <a:rPr sz="1700" b="0">
                <a:solidFill>
                  <a:srgbClr val="1A1A1A"/>
                </a:solidFill>
                <a:latin typeface="Arial"/>
              </a:rPr>
              <a:t>Без двух ДТП января 2009 г. (у автора первое ДТП — 21.02.2009) → </a:t>
            </a:r>
            <a:r>
              <a:rPr sz="1700" b="1">
                <a:solidFill>
                  <a:srgbClr val="1A1A1A"/>
                </a:solidFill>
                <a:latin typeface="Arial"/>
              </a:rPr>
              <a:t>170 и 424</a:t>
            </a:r>
            <a:r>
              <a:rPr sz="1700" b="0">
                <a:solidFill>
                  <a:srgbClr val="1A1A1A"/>
                </a:solidFill>
                <a:latin typeface="Arial"/>
              </a:rPr>
              <a:t>, как в ВКР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0" y="1554480"/>
          <a:ext cx="43891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ВКР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STATS19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ДТП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A78D6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Пострадавших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424*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A78D6"/>
                          </a:solidFill>
                          <a:latin typeface="Arial"/>
                        </a:rPr>
                        <a:t>424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Кварталов с ДТП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A78D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ДТП в 2017 г.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1A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A78D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4251960"/>
            <a:ext cx="438912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Arial"/>
              </a:rPr>
              <a:t>* в ВКР названы «погибшими», фактически это поле number_of_casualties — все пострадавшие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Таблица наблюдений по кварталам 2009–2017 гг.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Arial"/>
              </a:rPr>
              <a:t>Совпадение Y — в 27 из 36 кварталов; в таблице ВКР Σ Y = 162 вместо 170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11</a:t>
            </a:r>
          </a:p>
        </p:txBody>
      </p:sp>
      <p:pic>
        <p:nvPicPr>
          <p:cNvPr id="9" name="Picture 8" descr="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78" y="1600200"/>
            <a:ext cx="10984739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Arial"/>
              </a:rPr>
              <a:t>Пример: II кв. 2009 г. — в списке автора 9 ДТП, в его таблице Y = 7. III кв. 2010 г. — ДТП не было (у автора строка пропущена)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Результаты МНК: коэффициенты модели (2.3)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7863840" cy="4331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Коэф.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ВКР (рис. 3.2)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ЛИНЕЙН по таблице ВКР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STATS19, 170 ДТП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t-стат. (STATS19)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A0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0,6852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0,6852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78D6"/>
                          </a:solidFill>
                          <a:latin typeface="Arial"/>
                        </a:rPr>
                        <a:t>0,9382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1,36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A1 (тренд)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0,0079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0,0079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78D6"/>
                          </a:solidFill>
                          <a:latin typeface="Arial"/>
                        </a:rPr>
                        <a:t>−0,0087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−0,42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K2 (II кв.)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−0,2777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−0,2777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78D6"/>
                          </a:solidFill>
                          <a:latin typeface="Arial"/>
                        </a:rPr>
                        <a:t>−0,4104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−0,54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K3 (III кв.)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−0,0340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−0,0340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78D6"/>
                          </a:solidFill>
                          <a:latin typeface="Arial"/>
                        </a:rPr>
                        <a:t>−0,0856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−0,13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K4 (IV кв.)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0,9361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0,9361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78D6"/>
                          </a:solidFill>
                          <a:latin typeface="Arial"/>
                        </a:rPr>
                        <a:t>1,2077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1,98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Pr (пт–вс)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0,5570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0,5570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78D6"/>
                          </a:solidFill>
                          <a:latin typeface="Arial"/>
                        </a:rPr>
                        <a:t>0,5683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2,78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Cv (свет)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0,3250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0,3250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78D6"/>
                          </a:solidFill>
                          <a:latin typeface="Arial"/>
                        </a:rPr>
                        <a:t>0,3546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2,01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CD (сухо)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0,4419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0,4419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78D6"/>
                          </a:solidFill>
                          <a:latin typeface="Arial"/>
                        </a:rPr>
                        <a:t>0,5165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2,36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R²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0,92 (заявлено)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0,8435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78D6"/>
                          </a:solidFill>
                          <a:latin typeface="Arial"/>
                        </a:rPr>
                        <a:t>0,7359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595360" y="1280160"/>
            <a:ext cx="3154680" cy="475488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95360" y="1280160"/>
            <a:ext cx="73152" cy="4754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60" y="1389888"/>
            <a:ext cx="2834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Arial"/>
              </a:rPr>
              <a:t>Итог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874520"/>
            <a:ext cx="27889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800">
                <a:solidFill>
                  <a:srgbClr val="EB6834"/>
                </a:solidFill>
                <a:latin typeface="Arial"/>
              </a:rPr>
              <a:t>■  </a:t>
            </a:r>
            <a:r>
              <a:rPr sz="1400" b="0">
                <a:solidFill>
                  <a:srgbClr val="1A1A1A"/>
                </a:solidFill>
                <a:latin typeface="Arial"/>
              </a:rPr>
              <a:t>Коэффициенты ВКР — </a:t>
            </a:r>
            <a:r>
              <a:rPr sz="1400" b="1">
                <a:solidFill>
                  <a:srgbClr val="1A1A1A"/>
                </a:solidFill>
                <a:latin typeface="Arial"/>
              </a:rPr>
              <a:t>точное МНК-решение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EB6834"/>
                </a:solidFill>
                <a:latin typeface="Arial"/>
              </a:rPr>
              <a:t>■  </a:t>
            </a:r>
            <a:r>
              <a:rPr sz="1400" b="0">
                <a:solidFill>
                  <a:srgbClr val="1A1A1A"/>
                </a:solidFill>
                <a:latin typeface="Arial"/>
              </a:rPr>
              <a:t>Факторы Pr, Cv, CD близки к ВКР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EB6834"/>
                </a:solidFill>
                <a:latin typeface="Arial"/>
              </a:rPr>
              <a:t>■  </a:t>
            </a:r>
            <a:r>
              <a:rPr sz="1400" b="0">
                <a:solidFill>
                  <a:srgbClr val="1A1A1A"/>
                </a:solidFill>
                <a:latin typeface="Arial"/>
              </a:rPr>
              <a:t>R² = 0,92 в ВКР — это множественный </a:t>
            </a:r>
            <a:r>
              <a:rPr sz="1400" b="1">
                <a:solidFill>
                  <a:srgbClr val="1A1A1A"/>
                </a:solidFill>
                <a:latin typeface="Arial"/>
              </a:rPr>
              <a:t>R</a:t>
            </a:r>
            <a:r>
              <a:rPr sz="1400" b="0">
                <a:solidFill>
                  <a:srgbClr val="1A1A1A"/>
                </a:solidFill>
                <a:latin typeface="Arial"/>
              </a:rPr>
              <a:t> (√0,8435)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EB6834"/>
                </a:solidFill>
                <a:latin typeface="Arial"/>
              </a:rPr>
              <a:t>■  </a:t>
            </a:r>
            <a:r>
              <a:rPr sz="1400" b="0">
                <a:solidFill>
                  <a:srgbClr val="1A1A1A"/>
                </a:solidFill>
                <a:latin typeface="Arial"/>
              </a:rPr>
              <a:t>t крит. = 2,05 (df = 27)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Сравнение коэффициентов с ВКР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Arial"/>
              </a:rPr>
              <a:t>Столбики — оценки, «усы» — ± одна стандартная ошибка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13</a:t>
            </a:r>
          </a:p>
        </p:txBody>
      </p:sp>
      <p:pic>
        <p:nvPicPr>
          <p:cNvPr id="9" name="Picture 8" descr="co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407" y="1554480"/>
            <a:ext cx="9326880" cy="3886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623560"/>
            <a:ext cx="1115568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Разница ВКР и повтора меньше стандартной ошибки; значимы Pr и CD, Cv — на границе; тренд и сезонность II–III кв. незначимы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Качество модели на данных STATS19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Arial"/>
              </a:rPr>
              <a:t>35 непустых кварталов; SSE = 40,2; F = 10,7 (p &lt; 0,001)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14</a:t>
            </a:r>
          </a:p>
        </p:txBody>
      </p:sp>
      <p:pic>
        <p:nvPicPr>
          <p:cNvPr id="9" name="Picture 8" descr="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76" y="1600200"/>
            <a:ext cx="10507142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15000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Arial"/>
              </a:rPr>
              <a:t>Оговорка: δPr, δCv, δCD — части самого Y, поэтому высокий R² отчасти «механический»; для прогноза уместнее доли ДТП или пуассоновская регрессия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Оценочная таблица ДТП за 2017 г. (аналог табл. 3.1)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Arial"/>
              </a:rPr>
              <a:t>Базовое = A0 + A1·t + Kкв + CD·δCD;  праздники = Pr·δPr;  освещённость = Cv·δCv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15</a:t>
            </a:r>
          </a:p>
        </p:txBody>
      </p:sp>
      <p:pic>
        <p:nvPicPr>
          <p:cNvPr id="9" name="Picture 8" descr="eval2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0"/>
            <a:ext cx="7402285" cy="466344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0" y="1691640"/>
          <a:ext cx="35661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2017 г.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ВКР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STATS19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Факт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78D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Модель Σ Ŷ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19,58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78D6"/>
                          </a:solidFill>
                          <a:latin typeface="Arial"/>
                        </a:rPr>
                        <a:t>19,37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Погрешность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6,8 %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78D6"/>
                          </a:solidFill>
                          <a:latin typeface="Arial"/>
                        </a:rPr>
                        <a:t>7,7 %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В ВКР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20; 4,8 %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78D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0" y="4206240"/>
            <a:ext cx="356616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Arial"/>
              </a:rPr>
              <a:t>Опубликованная табл. 3.1 не пересчитывается из коэффициентов рис. 3.2: совпадает только базовое число I кв. (2,27)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Графики вкладов факторов по кварталам 2017 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 i="1">
                <a:solidFill>
                  <a:srgbClr val="595959"/>
                </a:solidFill>
                <a:latin typeface="Arial"/>
              </a:rPr>
              <a:t>Аналог рис. 3.3 ВКР по данным STATS19: факт и модельный вклад фактора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16</a:t>
            </a:r>
          </a:p>
        </p:txBody>
      </p:sp>
      <p:pic>
        <p:nvPicPr>
          <p:cNvPr id="9" name="Picture 8" descr="factor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666" y="1554480"/>
            <a:ext cx="8728363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Сравнение с ВКР: что совпало и что нет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486400" cy="48463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73152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35608"/>
            <a:ext cx="51663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Arial"/>
              </a:rPr>
              <a:t>Совпало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51206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Объём выборки: 170 ДТП, 424 пострадавших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Кодирование факторов и 35 непустых кварталов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Коэффициенты ВКР = точный МНК по его таблице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Знаки и величины Pr, Cv, CD; факт 2017 г. = 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5486400" cy="484632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73152" cy="4846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435608"/>
            <a:ext cx="51663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i="0">
                <a:solidFill>
                  <a:srgbClr val="EB6834"/>
                </a:solidFill>
                <a:latin typeface="Arial"/>
              </a:rPr>
              <a:t>Расхождения и причины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51206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Σ Y = 162 вместо 170 — ошибки ручного подсчёта в 9 кварталах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R² = 0,92 — на деле множественный R; R² = 0,84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Табл. 3.1 не согласована с коэффициентами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Данные Kaggle vs STATS19: +2 ДТП января 2009 г.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B6834"/>
                </a:solidFill>
                <a:latin typeface="Arial"/>
              </a:rPr>
              <a:t>■  </a:t>
            </a:r>
            <a:r>
              <a:rPr sz="2000" b="0">
                <a:solidFill>
                  <a:srgbClr val="1A1A1A"/>
                </a:solidFill>
                <a:latin typeface="Arial"/>
              </a:rPr>
              <a:t>«Рост за счёт тьмы» считается по числу ДТП при свете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Выводы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01384"/>
            <a:ext cx="914400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Кузнецов Н.В., гр. 4.506М-3  ·  Цифровые компетенции в научной деятельности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01384"/>
            <a:ext cx="7315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r"/>
            <a:r>
              <a:rPr sz="1200" b="1" i="0">
                <a:solidFill>
                  <a:srgbClr val="1F3864"/>
                </a:solidFill>
                <a:latin typeface="Arial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>
                <a:solidFill>
                  <a:srgbClr val="EB6834"/>
                </a:solidFill>
                <a:latin typeface="Arial"/>
              </a:rPr>
              <a:t>■  </a:t>
            </a:r>
            <a:r>
              <a:rPr sz="2200" b="0">
                <a:solidFill>
                  <a:srgbClr val="1A1A1A"/>
                </a:solidFill>
                <a:latin typeface="Arial"/>
              </a:rPr>
              <a:t>Методика ВКР (фиктивные переменные + МНК в Excel) </a:t>
            </a:r>
            <a:r>
              <a:rPr sz="2200" b="1">
                <a:solidFill>
                  <a:srgbClr val="1A1A1A"/>
                </a:solidFill>
                <a:latin typeface="Arial"/>
              </a:rPr>
              <a:t>воспроизводима</a:t>
            </a:r>
            <a:r>
              <a:rPr sz="2200" b="0">
                <a:solidFill>
                  <a:srgbClr val="1A1A1A"/>
                </a:solidFill>
                <a:latin typeface="Arial"/>
              </a:rPr>
              <a:t>; выборка автора восстановлена по открытым данным STATS19 точно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B6834"/>
                </a:solidFill>
                <a:latin typeface="Arial"/>
              </a:rPr>
              <a:t>■  </a:t>
            </a:r>
            <a:r>
              <a:rPr sz="2200" b="0">
                <a:solidFill>
                  <a:srgbClr val="1A1A1A"/>
                </a:solidFill>
                <a:latin typeface="Arial"/>
              </a:rPr>
              <a:t>Повтор подтвердил основные выводы: заметный вклад ДТП в </a:t>
            </a:r>
            <a:r>
              <a:rPr sz="2200" b="1">
                <a:solidFill>
                  <a:srgbClr val="1A1A1A"/>
                </a:solidFill>
                <a:latin typeface="Arial"/>
              </a:rPr>
              <a:t>выходные</a:t>
            </a:r>
            <a:r>
              <a:rPr sz="2200" b="0">
                <a:solidFill>
                  <a:srgbClr val="1A1A1A"/>
                </a:solidFill>
                <a:latin typeface="Arial"/>
              </a:rPr>
              <a:t> (0,57) и на </a:t>
            </a:r>
            <a:r>
              <a:rPr sz="2200" b="1">
                <a:solidFill>
                  <a:srgbClr val="1A1A1A"/>
                </a:solidFill>
                <a:latin typeface="Arial"/>
              </a:rPr>
              <a:t>сухой дороге</a:t>
            </a:r>
            <a:r>
              <a:rPr sz="2200" b="0">
                <a:solidFill>
                  <a:srgbClr val="1A1A1A"/>
                </a:solidFill>
                <a:latin typeface="Arial"/>
              </a:rPr>
              <a:t> (0,52), вклад освещённости 0,35; тренд и сезонность незначимы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B6834"/>
                </a:solidFill>
                <a:latin typeface="Arial"/>
              </a:rPr>
              <a:t>■  </a:t>
            </a:r>
            <a:r>
              <a:rPr sz="2200" b="0">
                <a:solidFill>
                  <a:srgbClr val="1A1A1A"/>
                </a:solidFill>
                <a:latin typeface="Arial"/>
              </a:rPr>
              <a:t>Модель объясняет 74 % дисперсии квартального числа ДТП; за 2017 г. модель даёт 19,4 ДТП при факте 21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B6834"/>
                </a:solidFill>
                <a:latin typeface="Arial"/>
              </a:rPr>
              <a:t>■  </a:t>
            </a:r>
            <a:r>
              <a:rPr sz="2200" b="0">
                <a:solidFill>
                  <a:srgbClr val="1A1A1A"/>
                </a:solidFill>
                <a:latin typeface="Arial"/>
              </a:rPr>
              <a:t>Найдены и объяснены расхождения: ошибки подсчёта Y, R вместо R², несогласованная табл. 3.1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EB6834"/>
                </a:solidFill>
                <a:latin typeface="Arial"/>
              </a:rPr>
              <a:t>■  </a:t>
            </a:r>
            <a:r>
              <a:rPr sz="2200" b="0">
                <a:solidFill>
                  <a:srgbClr val="1A1A1A"/>
                </a:solidFill>
                <a:latin typeface="Arial"/>
              </a:rPr>
              <a:t>Практический урок: расчёт в формулах и лист «Источник данных» делают исследование проверяемым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3200400"/>
            <a:ext cx="1463040" cy="640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square" lIns="45720" tIns="27432" rIns="45720" bIns="27432" anchor="b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1848</Words>
  <Application>Microsoft Office PowerPoint</Application>
  <PresentationFormat>Широкоэкранный</PresentationFormat>
  <Paragraphs>290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users</dc:creator>
  <cp:keywords/>
  <dc:description/>
  <cp:lastModifiedBy>users</cp:lastModifiedBy>
  <cp:revision>2</cp:revision>
  <dcterms:created xsi:type="dcterms:W3CDTF">2013-01-27T09:14:16Z</dcterms:created>
  <dcterms:modified xsi:type="dcterms:W3CDTF">2026-10-28T06:50:17Z</dcterms:modified>
  <cp:category/>
</cp:coreProperties>
</file>